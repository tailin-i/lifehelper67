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2" r:id="rId7"/>
    <p:sldId id="261" r:id="rId8"/>
    <p:sldId id="265" r:id="rId9"/>
    <p:sldId id="266" r:id="rId10"/>
    <p:sldId id="267" r:id="rId11"/>
    <p:sldId id="263" r:id="rId12"/>
    <p:sldId id="264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7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A14BA-7598-40AF-97A2-32E4039DED2A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76914-02B6-4D81-B413-233C23CEDA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5826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A14BA-7598-40AF-97A2-32E4039DED2A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76914-02B6-4D81-B413-233C23CEDA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4991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A14BA-7598-40AF-97A2-32E4039DED2A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76914-02B6-4D81-B413-233C23CEDA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2432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A14BA-7598-40AF-97A2-32E4039DED2A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76914-02B6-4D81-B413-233C23CEDA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74680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A14BA-7598-40AF-97A2-32E4039DED2A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76914-02B6-4D81-B413-233C23CEDA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4946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A14BA-7598-40AF-97A2-32E4039DED2A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76914-02B6-4D81-B413-233C23CEDA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76900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A14BA-7598-40AF-97A2-32E4039DED2A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76914-02B6-4D81-B413-233C23CEDA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182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A14BA-7598-40AF-97A2-32E4039DED2A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76914-02B6-4D81-B413-233C23CEDA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3037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A14BA-7598-40AF-97A2-32E4039DED2A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76914-02B6-4D81-B413-233C23CEDA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7922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A14BA-7598-40AF-97A2-32E4039DED2A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76914-02B6-4D81-B413-233C23CEDA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42228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A14BA-7598-40AF-97A2-32E4039DED2A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76914-02B6-4D81-B413-233C23CEDA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2249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6A14BA-7598-40AF-97A2-32E4039DED2A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476914-02B6-4D81-B413-233C23CEDA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1415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200"/>
                    </a14:imgEffect>
                    <a14:imgEffect>
                      <a14:brightnessContrast bright="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288018"/>
            <a:ext cx="12357219" cy="7504996"/>
          </a:xfrm>
          <a:prstGeom prst="rect">
            <a:avLst/>
          </a:prstGeom>
          <a:effectLst>
            <a:outerShdw blurRad="50800" dist="50800" dir="5400000" sx="77000" sy="77000" algn="ctr" rotWithShape="0">
              <a:schemeClr val="tx1">
                <a:lumMod val="50000"/>
                <a:lumOff val="50000"/>
              </a:schemeClr>
            </a:outerShdw>
          </a:effectLst>
        </p:spPr>
      </p:pic>
      <p:sp>
        <p:nvSpPr>
          <p:cNvPr id="6" name="Прямоугольник 5"/>
          <p:cNvSpPr/>
          <p:nvPr/>
        </p:nvSpPr>
        <p:spPr>
          <a:xfrm>
            <a:off x="-4562694" y="-602978"/>
            <a:ext cx="17028160" cy="8869680"/>
          </a:xfrm>
          <a:prstGeom prst="rect">
            <a:avLst/>
          </a:prstGeom>
          <a:solidFill>
            <a:schemeClr val="accent1">
              <a:lumMod val="40000"/>
              <a:lumOff val="60000"/>
              <a:alpha val="32000"/>
            </a:schemeClr>
          </a:solidFill>
          <a:effectLst>
            <a:outerShdw blurRad="50800" dist="50800" dir="5400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3759200" y="-79342"/>
            <a:ext cx="9144000" cy="1877716"/>
          </a:xfrm>
        </p:spPr>
        <p:txBody>
          <a:bodyPr>
            <a:normAutofit/>
          </a:bodyPr>
          <a:lstStyle/>
          <a:p>
            <a:r>
              <a:rPr lang="en-US" sz="8000" dirty="0" err="1" smtClean="0">
                <a:solidFill>
                  <a:schemeClr val="accent4">
                    <a:lumMod val="20000"/>
                    <a:lumOff val="80000"/>
                  </a:schemeClr>
                </a:solidFill>
                <a:latin typeface="Arial Black" panose="020B0A04020102020204" pitchFamily="34" charset="0"/>
              </a:rPr>
              <a:t>LifeHelper</a:t>
            </a:r>
            <a:endParaRPr lang="ru-RU" sz="8000" dirty="0">
              <a:solidFill>
                <a:schemeClr val="accent4">
                  <a:lumMod val="20000"/>
                  <a:lumOff val="80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682240" y="4118140"/>
            <a:ext cx="9144000" cy="1655762"/>
          </a:xfrm>
        </p:spPr>
        <p:txBody>
          <a:bodyPr/>
          <a:lstStyle/>
          <a:p>
            <a:pPr algn="r"/>
            <a:r>
              <a:rPr lang="ru-RU" dirty="0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Авторы проекта:</a:t>
            </a:r>
          </a:p>
          <a:p>
            <a:pPr algn="r"/>
            <a:r>
              <a:rPr lang="ru-RU" dirty="0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Атрошенко Олег, Лазарева Софья, Кольцов </a:t>
            </a:r>
            <a:r>
              <a:rPr lang="ru-RU" dirty="0" err="1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Доброслав</a:t>
            </a:r>
            <a:endParaRPr lang="ru-RU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759200" y="1844067"/>
            <a:ext cx="80670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Веб-форум для поддержки людей, оказавшихся в тяжелой жизненной ситуации.</a:t>
            </a:r>
            <a:endParaRPr lang="ru-RU" sz="2400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7627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3359" y="-117712"/>
            <a:ext cx="12405360" cy="8093311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-213359" y="-117712"/>
            <a:ext cx="14183359" cy="8316832"/>
          </a:xfrm>
          <a:prstGeom prst="rect">
            <a:avLst/>
          </a:prstGeom>
          <a:solidFill>
            <a:schemeClr val="accent1">
              <a:alpha val="6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94362" y="347821"/>
            <a:ext cx="10515600" cy="1325563"/>
          </a:xfrm>
        </p:spPr>
        <p:txBody>
          <a:bodyPr>
            <a:normAutofit/>
          </a:bodyPr>
          <a:lstStyle/>
          <a:p>
            <a:r>
              <a:rPr lang="ru-RU" sz="6000" dirty="0" smtClean="0">
                <a:solidFill>
                  <a:schemeClr val="accent4">
                    <a:lumMod val="20000"/>
                    <a:lumOff val="80000"/>
                  </a:schemeClr>
                </a:solidFill>
                <a:latin typeface="Arial Black" panose="020B0A04020102020204" pitchFamily="34" charset="0"/>
              </a:rPr>
              <a:t>Реализация проекта</a:t>
            </a:r>
            <a:endParaRPr lang="ru-RU" sz="6000" dirty="0">
              <a:solidFill>
                <a:schemeClr val="accent4">
                  <a:lumMod val="20000"/>
                  <a:lumOff val="80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94362" y="1785144"/>
            <a:ext cx="11048999" cy="5913119"/>
          </a:xfrm>
        </p:spPr>
        <p:txBody>
          <a:bodyPr>
            <a:normAutofit/>
          </a:bodyPr>
          <a:lstStyle/>
          <a:p>
            <a:pPr lvl="0" algn="just"/>
            <a:r>
              <a:rPr lang="ru-RU" sz="2700" dirty="0">
                <a:solidFill>
                  <a:schemeClr val="bg1"/>
                </a:solidFill>
              </a:rPr>
              <a:t>Система регистрации и авторизации пользователей с проверкой данных</a:t>
            </a:r>
          </a:p>
          <a:p>
            <a:pPr lvl="0" algn="just"/>
            <a:r>
              <a:rPr lang="ru-RU" sz="2700" dirty="0">
                <a:solidFill>
                  <a:schemeClr val="bg1"/>
                </a:solidFill>
              </a:rPr>
              <a:t>Иерархическая структура контента (разделы, темы, сообщения) с удобной навигацией</a:t>
            </a:r>
          </a:p>
          <a:p>
            <a:pPr lvl="0" algn="just"/>
            <a:r>
              <a:rPr lang="ru-RU" sz="2700" dirty="0">
                <a:solidFill>
                  <a:schemeClr val="bg1"/>
                </a:solidFill>
              </a:rPr>
              <a:t>Механики социального взаимодействия: система </a:t>
            </a:r>
            <a:r>
              <a:rPr lang="ru-RU" sz="2700" dirty="0" err="1">
                <a:solidFill>
                  <a:schemeClr val="bg1"/>
                </a:solidFill>
              </a:rPr>
              <a:t>лайков</a:t>
            </a:r>
            <a:r>
              <a:rPr lang="ru-RU" sz="2700" dirty="0">
                <a:solidFill>
                  <a:schemeClr val="bg1"/>
                </a:solidFill>
              </a:rPr>
              <a:t> для оценки советов и цепочки ответов</a:t>
            </a:r>
          </a:p>
          <a:p>
            <a:pPr lvl="0" algn="just"/>
            <a:r>
              <a:rPr lang="ru-RU" sz="2700" dirty="0">
                <a:solidFill>
                  <a:schemeClr val="bg1"/>
                </a:solidFill>
              </a:rPr>
              <a:t>Система отображения статистики в реальном времени (количество тем, сообщений и пользователей) </a:t>
            </a:r>
          </a:p>
          <a:p>
            <a:pPr lvl="0" algn="just"/>
            <a:r>
              <a:rPr lang="ru-RU" sz="2700" dirty="0" err="1">
                <a:solidFill>
                  <a:schemeClr val="bg1"/>
                </a:solidFill>
              </a:rPr>
              <a:t>Шаблонизация</a:t>
            </a:r>
            <a:r>
              <a:rPr lang="ru-RU" sz="2700" dirty="0">
                <a:solidFill>
                  <a:schemeClr val="bg1"/>
                </a:solidFill>
              </a:rPr>
              <a:t> интерфейса с адаптацией под мобильные устройства </a:t>
            </a:r>
          </a:p>
          <a:p>
            <a:pPr lvl="0" algn="just"/>
            <a:r>
              <a:rPr lang="ru-RU" sz="2700" dirty="0">
                <a:solidFill>
                  <a:schemeClr val="bg1"/>
                </a:solidFill>
              </a:rPr>
              <a:t>Информационные страницы «Правила» и «Политика конфиденциальности»</a:t>
            </a:r>
          </a:p>
          <a:p>
            <a:endParaRPr lang="ru-RU" sz="2700" dirty="0"/>
          </a:p>
        </p:txBody>
      </p:sp>
    </p:spTree>
    <p:extLst>
      <p:ext uri="{BB962C8B-B14F-4D97-AF65-F5344CB8AC3E}">
        <p14:creationId xmlns:p14="http://schemas.microsoft.com/office/powerpoint/2010/main" val="3111192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86080" y="-1037917"/>
            <a:ext cx="12578080" cy="9022883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-264160" y="-1037917"/>
            <a:ext cx="13004800" cy="8363277"/>
          </a:xfrm>
          <a:prstGeom prst="rect">
            <a:avLst/>
          </a:prstGeom>
          <a:solidFill>
            <a:schemeClr val="accent1">
              <a:lumMod val="75000"/>
              <a:alpha val="7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7400" y="664686"/>
            <a:ext cx="10515600" cy="1325563"/>
          </a:xfrm>
        </p:spPr>
        <p:txBody>
          <a:bodyPr>
            <a:normAutofit/>
          </a:bodyPr>
          <a:lstStyle/>
          <a:p>
            <a:r>
              <a:rPr lang="ru-RU" sz="6000" dirty="0" smtClean="0">
                <a:solidFill>
                  <a:schemeClr val="accent4">
                    <a:lumMod val="20000"/>
                    <a:lumOff val="80000"/>
                  </a:schemeClr>
                </a:solidFill>
                <a:latin typeface="Arial Black" panose="020B0A04020102020204" pitchFamily="34" charset="0"/>
              </a:rPr>
              <a:t>Технологии</a:t>
            </a:r>
            <a:endParaRPr lang="ru-RU" sz="6000" dirty="0">
              <a:solidFill>
                <a:schemeClr val="accent4">
                  <a:lumMod val="20000"/>
                  <a:lumOff val="80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87400" y="2150745"/>
            <a:ext cx="10515600" cy="4351338"/>
          </a:xfrm>
        </p:spPr>
        <p:txBody>
          <a:bodyPr/>
          <a:lstStyle/>
          <a:p>
            <a:pPr lvl="0"/>
            <a:r>
              <a:rPr lang="ru-RU" sz="3600" dirty="0">
                <a:solidFill>
                  <a:schemeClr val="bg1"/>
                </a:solidFill>
              </a:rPr>
              <a:t>Модули стандартной библиотеки </a:t>
            </a:r>
            <a:r>
              <a:rPr lang="en-US" sz="3600" dirty="0">
                <a:solidFill>
                  <a:schemeClr val="bg1"/>
                </a:solidFill>
              </a:rPr>
              <a:t>Python (sys, sqlite3, logging)</a:t>
            </a:r>
          </a:p>
          <a:p>
            <a:pPr lvl="0"/>
            <a:r>
              <a:rPr lang="en-US" sz="3600" dirty="0">
                <a:solidFill>
                  <a:schemeClr val="bg1"/>
                </a:solidFill>
              </a:rPr>
              <a:t>Flask</a:t>
            </a:r>
          </a:p>
          <a:p>
            <a:pPr lvl="0"/>
            <a:r>
              <a:rPr lang="en-US" sz="3600" dirty="0">
                <a:solidFill>
                  <a:schemeClr val="bg1"/>
                </a:solidFill>
              </a:rPr>
              <a:t>SQLite3</a:t>
            </a:r>
          </a:p>
          <a:p>
            <a:pPr lvl="0"/>
            <a:r>
              <a:rPr lang="en-US" sz="3600" dirty="0" err="1">
                <a:solidFill>
                  <a:schemeClr val="bg1"/>
                </a:solidFill>
              </a:rPr>
              <a:t>Werkzeug</a:t>
            </a:r>
            <a:endParaRPr lang="en-US" sz="3600" dirty="0">
              <a:solidFill>
                <a:schemeClr val="bg1"/>
              </a:solidFill>
            </a:endParaRPr>
          </a:p>
          <a:p>
            <a:pPr lvl="0"/>
            <a:r>
              <a:rPr lang="en-US" sz="3600" dirty="0">
                <a:solidFill>
                  <a:schemeClr val="bg1"/>
                </a:solidFill>
              </a:rPr>
              <a:t>HTML, CSS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76768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Изображение1"/>
          <p:cNvPicPr>
            <a:picLocks noChangeAspect="1" noChangeArrowheads="1"/>
          </p:cNvPicPr>
          <p:nvPr/>
        </p:nvPicPr>
        <p:blipFill>
          <a:blip r:embed="rId2"/>
          <a:srcRect r="1005" b="25"/>
          <a:stretch>
            <a:fillRect/>
          </a:stretch>
        </p:blipFill>
        <p:spPr>
          <a:xfrm>
            <a:off x="197433" y="462458"/>
            <a:ext cx="11797134" cy="593834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977172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Изображение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947" y="576262"/>
            <a:ext cx="5992918" cy="5722621"/>
          </a:xfrm>
          <a:prstGeom prst="rect">
            <a:avLst/>
          </a:prstGeom>
          <a:noFill/>
        </p:spPr>
      </p:pic>
      <p:pic>
        <p:nvPicPr>
          <p:cNvPr id="5" name="Изображение3"/>
          <p:cNvPicPr>
            <a:picLocks noChangeAspect="1" noChangeArrowheads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1118" y="576261"/>
            <a:ext cx="4818001" cy="572262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98568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Изображение4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1" y="1125220"/>
            <a:ext cx="11995569" cy="413766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47469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Изображение5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35" y="145574"/>
            <a:ext cx="11434005" cy="646269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292038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619" y="0"/>
            <a:ext cx="9837662" cy="6861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8954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8788"/>
            <a:ext cx="12212320" cy="5689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786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291" y="0"/>
            <a:ext cx="96394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629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2240" y="-363441"/>
            <a:ext cx="12415520" cy="8282636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-142240" y="-363441"/>
            <a:ext cx="12954000" cy="8623521"/>
          </a:xfrm>
          <a:prstGeom prst="rect">
            <a:avLst/>
          </a:prstGeom>
          <a:solidFill>
            <a:schemeClr val="accent1">
              <a:alpha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25500" y="916145"/>
            <a:ext cx="11018520" cy="1325563"/>
          </a:xfrm>
        </p:spPr>
        <p:txBody>
          <a:bodyPr>
            <a:noAutofit/>
          </a:bodyPr>
          <a:lstStyle/>
          <a:p>
            <a:r>
              <a:rPr lang="ru-RU" sz="6000" dirty="0" smtClean="0">
                <a:solidFill>
                  <a:schemeClr val="accent4">
                    <a:lumMod val="20000"/>
                    <a:lumOff val="80000"/>
                  </a:schemeClr>
                </a:solidFill>
                <a:latin typeface="Arial Black" panose="020B0A04020102020204" pitchFamily="34" charset="0"/>
              </a:rPr>
              <a:t>Возможности </a:t>
            </a:r>
            <a:r>
              <a:rPr lang="ru-RU" sz="6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 Black" panose="020B0A04020102020204" pitchFamily="34" charset="0"/>
              </a:rPr>
              <a:t>для доработки и развития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25500" y="2864142"/>
            <a:ext cx="11018520" cy="4351338"/>
          </a:xfrm>
        </p:spPr>
        <p:txBody>
          <a:bodyPr/>
          <a:lstStyle/>
          <a:p>
            <a:r>
              <a:rPr lang="ru-RU" sz="4400" dirty="0" smtClean="0">
                <a:solidFill>
                  <a:schemeClr val="bg1"/>
                </a:solidFill>
              </a:rPr>
              <a:t>Сотрудничество с центрами психологической помощи, психологами</a:t>
            </a:r>
          </a:p>
          <a:p>
            <a:r>
              <a:rPr lang="ru-RU" sz="4400" dirty="0" smtClean="0">
                <a:solidFill>
                  <a:schemeClr val="bg1"/>
                </a:solidFill>
              </a:rPr>
              <a:t>Внедрение ИИ-помощника</a:t>
            </a:r>
          </a:p>
          <a:p>
            <a:endParaRPr lang="ru-RU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12842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20826" y="-206687"/>
            <a:ext cx="13076985" cy="11620039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-111760" y="-206687"/>
            <a:ext cx="13248640" cy="8090847"/>
          </a:xfrm>
          <a:prstGeom prst="rect">
            <a:avLst/>
          </a:prstGeom>
          <a:solidFill>
            <a:schemeClr val="accent1">
              <a:lumMod val="60000"/>
              <a:lumOff val="40000"/>
              <a:alpha val="74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579653" y="1533525"/>
            <a:ext cx="12994638" cy="3688715"/>
          </a:xfrm>
        </p:spPr>
        <p:txBody>
          <a:bodyPr>
            <a:normAutofit/>
          </a:bodyPr>
          <a:lstStyle/>
          <a:p>
            <a:pPr algn="ctr"/>
            <a:r>
              <a:rPr lang="ru-RU" sz="60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Спасибо за внимание!</a:t>
            </a:r>
            <a:endParaRPr lang="ru-RU" sz="6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3145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124</Words>
  <Application>Microsoft Office PowerPoint</Application>
  <PresentationFormat>Широкоэкранный</PresentationFormat>
  <Paragraphs>21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Arial Black</vt:lpstr>
      <vt:lpstr>Calibri</vt:lpstr>
      <vt:lpstr>Calibri Light</vt:lpstr>
      <vt:lpstr>Тема Office</vt:lpstr>
      <vt:lpstr>LifeHelper</vt:lpstr>
      <vt:lpstr>Реализация проекта</vt:lpstr>
      <vt:lpstr>Технологии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Возможности для доработки и развития</vt:lpstr>
      <vt:lpstr>Спасибо за внимание!</vt:lpstr>
    </vt:vector>
  </TitlesOfParts>
  <Company>SPecialiST RePack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LifeHelper</dc:title>
  <dc:creator>User</dc:creator>
  <cp:lastModifiedBy>User</cp:lastModifiedBy>
  <cp:revision>10</cp:revision>
  <dcterms:created xsi:type="dcterms:W3CDTF">2026-05-06T19:28:20Z</dcterms:created>
  <dcterms:modified xsi:type="dcterms:W3CDTF">2026-05-13T15:59:50Z</dcterms:modified>
</cp:coreProperties>
</file>